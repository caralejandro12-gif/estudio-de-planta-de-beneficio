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Recuperación Cu (%)</c:v>
                </c:pt>
              </c:strCache>
            </c:strRef>
          </c:tx>
          <c:spPr>
            <a:solidFill>
              <a:srgbClr val="1B3A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3A4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7C8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E7C8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8963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BA3B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&lt; 75%</c:v>
                  </c:pt>
                  <c:pt idx="1">
                    <c:v>75–78%</c:v>
                  </c:pt>
                  <c:pt idx="2">
                    <c:v>78–81%</c:v>
                  </c:pt>
                  <c:pt idx="3">
                    <c:v>81–84%</c:v>
                  </c:pt>
                  <c:pt idx="4">
                    <c:v>&gt; 84%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79.1</c:v>
                </c:pt>
                <c:pt idx="1">
                  <c:v>80.8</c:v>
                </c:pt>
                <c:pt idx="2">
                  <c:v>82.1</c:v>
                </c:pt>
                <c:pt idx="3">
                  <c:v>81.9</c:v>
                </c:pt>
                <c:pt idx="4">
                  <c:v>81.4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4"/>
          <c:min val="77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Recuperación Cu (%)</c:v>
                </c:pt>
              </c:strCache>
            </c:strRef>
          </c:tx>
          <c:spPr>
            <a:solidFill>
              <a:srgbClr val="1B3A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3A4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7C8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E7C8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8963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8963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&lt; 0.2% Cu</c:v>
                  </c:pt>
                  <c:pt idx="1">
                    <c:v>0.2–0.4% Cu</c:v>
                  </c:pt>
                  <c:pt idx="2">
                    <c:v>0.4–0.6% Cu</c:v>
                  </c:pt>
                  <c:pt idx="3">
                    <c:v>0.6–0.8% Cu</c:v>
                  </c:pt>
                  <c:pt idx="4">
                    <c:v>&gt; 0.8% Cu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82</c:v>
                </c:pt>
                <c:pt idx="1">
                  <c:v>81.5</c:v>
                </c:pt>
                <c:pt idx="2">
                  <c:v>81.8</c:v>
                </c:pt>
                <c:pt idx="3">
                  <c:v>81.7</c:v>
                </c:pt>
                <c:pt idx="4">
                  <c:v>81.6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3"/>
          <c:min val="79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Precio Cu (USD/t)</c:v>
                </c:pt>
              </c:strCache>
            </c:strRef>
          </c:tx>
          <c:spPr>
            <a:solidFill>
              <a:srgbClr val="C8963E"/>
            </a:solidFill>
            <a:ln w="31750" cap="flat">
              <a:solidFill>
                <a:srgbClr val="C8963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8963E"/>
              </a:solidFill>
              <a:ln w="9525" cap="flat">
                <a:solidFill>
                  <a:srgbClr val="C8963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2017</c:v>
                  </c:pt>
                  <c:pt idx="1">
                    <c:v>2018</c:v>
                  </c:pt>
                  <c:pt idx="2">
                    <c:v>2019</c:v>
                  </c:pt>
                  <c:pt idx="3">
                    <c:v>2020</c:v>
                  </c:pt>
                  <c:pt idx="4">
                    <c:v>2021</c:v>
                  </c:pt>
                  <c:pt idx="5">
                    <c:v>2022</c:v>
                  </c:pt>
                  <c:pt idx="6">
                    <c:v>2023</c:v>
                  </c:pt>
                  <c:pt idx="7">
                    <c:v>2024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6050</c:v>
                </c:pt>
                <c:pt idx="1">
                  <c:v>6700</c:v>
                </c:pt>
                <c:pt idx="2">
                  <c:v>6000</c:v>
                </c:pt>
                <c:pt idx="3">
                  <c:v>5500</c:v>
                </c:pt>
                <c:pt idx="4">
                  <c:v>9200</c:v>
                </c:pt>
                <c:pt idx="5">
                  <c:v>9800</c:v>
                </c:pt>
                <c:pt idx="6">
                  <c:v>8500</c:v>
                </c:pt>
                <c:pt idx="7">
                  <c:v>9100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40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40080"/>
            <a:ext cx="5760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F5F5F5"/>
                </a:solidFill>
              </a:rPr>
              <a:t>¿Cómo maximizar el valor</a:t>
            </a:r>
            <a:endParaRPr lang="en-US" sz="3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F5F5F5"/>
                </a:solidFill>
              </a:rPr>
              <a:t>del cobre extraído</a:t>
            </a:r>
            <a:endParaRPr lang="en-US" sz="3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F5F5F5"/>
                </a:solidFill>
              </a:rPr>
              <a:t>minimizando costos operativos?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2926080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BA3B0"/>
                </a:solidFill>
              </a:rPr>
              <a:t>Análisis exploratorio de datos operacionales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BA3B0"/>
                </a:solidFill>
              </a:rPr>
              <a:t>Planta de Beneficio Cu-Au | 2017–2024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3840480"/>
            <a:ext cx="2194560" cy="38404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84048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5F5"/>
                </a:solidFill>
              </a:rPr>
              <a:t>LEAN SIX SIGMA — DMAIC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4434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0"/>
                </a:solidFill>
              </a:rPr>
              <a:t>Carabajal  |  Data Science &amp; Ingeniería de Procesos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0" y="457200"/>
            <a:ext cx="1920240" cy="1188720"/>
          </a:xfrm>
          <a:prstGeom prst="ellipse">
            <a:avLst/>
          </a:prstGeom>
          <a:solidFill>
            <a:srgbClr val="0D1B2A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0" y="5486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963E"/>
                </a:solidFill>
              </a:rPr>
              <a:t>8.764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0" y="102412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3B0"/>
                </a:solidFill>
              </a:rPr>
              <a:t>Turnos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BA3B0"/>
                </a:solidFill>
              </a:rPr>
              <a:t>analizados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858000" y="1920240"/>
            <a:ext cx="1920240" cy="1188720"/>
          </a:xfrm>
          <a:prstGeom prst="ellipse">
            <a:avLst/>
          </a:prstGeom>
          <a:solidFill>
            <a:srgbClr val="0D1B2A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0" y="20116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963E"/>
                </a:solidFill>
              </a:rPr>
              <a:t>8 años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0" y="248716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3B0"/>
                </a:solidFill>
              </a:rPr>
              <a:t>Datos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BA3B0"/>
                </a:solidFill>
              </a:rPr>
              <a:t>históricos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858000" y="3383280"/>
            <a:ext cx="1920240" cy="1188720"/>
          </a:xfrm>
          <a:prstGeom prst="ellipse">
            <a:avLst/>
          </a:prstGeom>
          <a:solidFill>
            <a:srgbClr val="0D1B2A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34747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963E"/>
                </a:solidFill>
              </a:rPr>
              <a:t>2 CTQs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0" y="395020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3B0"/>
                </a:solidFill>
              </a:rPr>
              <a:t>Recuperación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BA3B0"/>
                </a:solidFill>
              </a:rPr>
              <a:t>y Energía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</a:rPr>
              <a:t>¿Por qué analizamos esto?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40233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51560"/>
            <a:ext cx="4023360" cy="34747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5156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5F5"/>
                </a:solidFill>
              </a:rPr>
              <a:t>MOTIVACIÓN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Una planta concentradora opera 24 horas al día, los 365 días del año.
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Cada decisión del operador — cuánto moler, a qué velocidad alimentar — impacta directamente la rentabilidad del turno.
</a:t>
            </a:r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333333"/>
                </a:solidFill>
              </a:rPr>
              <a:t>El problema: 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moler más fino mejora la recuperación del cobre, pero dispara el costo energético. Encontrar ese equilibrio, hoy, se hace a ojo.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051560"/>
            <a:ext cx="40233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051560"/>
            <a:ext cx="402336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05156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5F5"/>
                </a:solidFill>
              </a:rPr>
              <a:t>AUDIENCIA OBJETIVO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92040" y="155448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Gerentes de Operaciones</a:t>
            </a:r>
            <a:endParaRPr lang="en-US" sz="1300" dirty="0"/>
          </a:p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Superintendentes de Planta</a:t>
            </a:r>
            <a:endParaRPr lang="en-US" sz="1300" dirty="0"/>
          </a:p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Dirección General</a:t>
            </a:r>
            <a:endParaRPr lang="en-US" sz="1300" dirty="0"/>
          </a:p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Equipos de Costos y Rentabilidad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374904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E7C86"/>
                </a:solidFill>
              </a:rPr>
              <a:t>No se requiere conocimiento técnico de procesos mineros para entender este análisis.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3B0"/>
                </a:solidFill>
              </a:rPr>
              <a:t>2 / 12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B0"/>
                </a:solidFill>
              </a:rPr>
              <a:t>Análisis Operacional — Planta Cu-Au | 2017–2024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5"/>
                </a:solidFill>
              </a:rPr>
              <a:t>El Problema Central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86868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963E"/>
                </a:solidFill>
              </a:rPr>
              <a:t>Producir más no siempre significa ganar más.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35661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3566160" cy="41148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716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5F5"/>
                </a:solidFill>
              </a:rPr>
              <a:t>↑  Moler más fino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3200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3333"/>
                </a:solidFill>
              </a:rPr>
              <a:t>Libera mejor el mineral de cobre atrapado en la roca, aumentando la cantidad que puede capturarse en la flotación.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05072" y="2514600"/>
            <a:ext cx="1143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8963E"/>
                </a:solidFill>
              </a:rPr>
              <a:t>VS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5212080" y="1371600"/>
            <a:ext cx="35661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212080" y="1371600"/>
            <a:ext cx="356616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0" y="13716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5F5"/>
                </a:solidFill>
              </a:rPr>
              <a:t>↑  Costo energético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94960" y="1874520"/>
            <a:ext cx="3200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3333"/>
                </a:solidFill>
              </a:rPr>
              <a:t>Cada punto adicional de finura consume más electricidad de forma exponencial — con retornos cada vez menores.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4389120"/>
            <a:ext cx="8412480" cy="50292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43891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5F5"/>
                </a:solidFill>
              </a:rPr>
              <a:t>Objetivo: identificar la combinación óptima de variables que maximiza la ganancia por tonelada procesada.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3B0"/>
                </a:solidFill>
              </a:rPr>
              <a:t>3 / 12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B0"/>
                </a:solidFill>
              </a:rPr>
              <a:t>Análisis Operacional — Planta Cu-Au | 2017–2024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</a:rPr>
              <a:t>Los Datos: 8 Años de Operación Real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1430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7C86"/>
                </a:solidFill>
              </a:rPr>
              <a:t>8.764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20040" y="18745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Turnos de 8h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analizados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468880" y="100584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11430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1B2A"/>
                </a:solidFill>
              </a:rPr>
              <a:t>8 años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468880" y="18745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Enero 2017 →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Diciembre 2024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17720" y="100584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11430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8963E"/>
                </a:solidFill>
              </a:rPr>
              <a:t>17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617720" y="18745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Variables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operativas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766560" y="100584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0" y="11430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3A4B"/>
                </a:solidFill>
              </a:rPr>
              <a:t>3/día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766560" y="18745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Frecuencia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de medición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606040"/>
            <a:ext cx="8412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26060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A3B0"/>
                </a:solidFill>
              </a:rPr>
              <a:t>VARIABLES CLAVE DEL ANÁLISIS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944368"/>
          <a:ext cx="8412480" cy="1828800"/>
        </p:xfrm>
        <a:graphic>
          <a:graphicData uri="http://schemas.openxmlformats.org/drawingml/2006/table">
            <a:tbl>
              <a:tblPr/>
              <a:tblGrid>
                <a:gridCol w="2194560"/>
                <a:gridCol w="3291840"/>
                <a:gridCol w="29260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Variable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¿Qué mide?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Rol en el análisis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Recuperación Cu (%)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Cuánto cobre se captura vs lo que entra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🎯 KPI Principal — maximizar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Consumo Energía (kWh/t)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Electricidad por tonelada procesada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🎯 KPI Principal — minimizar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Finura de molienda (%)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Qué tan fino se muele el mineral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Variable de control clave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Ley de cabeza Cu (%)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Concentración de cobre en la roca entrante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Condición de entrada — la mina manda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Precio Cu (USD/t)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Precio real de mercado — API Yahoo Finance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Convierte operación en dinero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3B0"/>
                </a:solidFill>
              </a:rPr>
              <a:t>4 / 12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B0"/>
                </a:solidFill>
              </a:rPr>
              <a:t>Análisis Operacional — Planta Cu-Au | 2017–2024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</a:rPr>
              <a:t>Las Preguntas que Guiaron el Análisis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457200" cy="74980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5F5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078992"/>
            <a:ext cx="3383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¿Moler más fino siempre mejora la recuperación de cobre?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892808"/>
            <a:ext cx="4023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892808"/>
            <a:ext cx="457200" cy="74980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892808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5F5"/>
                </a:solidFill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1965960"/>
            <a:ext cx="3383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¿Existe un punto donde seguir moliendo ya no vale la pena?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779776"/>
            <a:ext cx="4023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779776"/>
            <a:ext cx="457200" cy="74980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779776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5F5"/>
                </a:solidFill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2852928"/>
            <a:ext cx="3383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¿Cuánto cuesta energéticamente cada punto de finura adicional?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666744"/>
            <a:ext cx="4023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666744"/>
            <a:ext cx="457200" cy="74980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666744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5F5"/>
                </a:solidFill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3739896"/>
            <a:ext cx="3383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¿La calidad del mineral que envía la mina define el techo de lo posible?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1005840"/>
            <a:ext cx="4023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1005840"/>
            <a:ext cx="457200" cy="74980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1005840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5F5"/>
                </a:solidFill>
              </a:rPr>
              <a:t>05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12080" y="1078992"/>
            <a:ext cx="3383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¿Las paradas de planta afectan la eficiencia del proceso?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1892808"/>
            <a:ext cx="4023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1892808"/>
            <a:ext cx="457200" cy="74980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1892808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5F5"/>
                </a:solidFill>
              </a:rPr>
              <a:t>06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12080" y="1965960"/>
            <a:ext cx="3383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¿Existe una combinación de variables que maximiza la ganancia por turno?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63440" y="2779776"/>
            <a:ext cx="4023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2779776"/>
            <a:ext cx="457200" cy="74980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2779776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5F5"/>
                </a:solidFill>
              </a:rPr>
              <a:t>07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212080" y="2852928"/>
            <a:ext cx="3383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¿El precio real del cobre cambia qué tan rentable es cada turno?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3B0"/>
                </a:solidFill>
              </a:rPr>
              <a:t>5 / 12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B0"/>
                </a:solidFill>
              </a:rPr>
              <a:t>Análisis Operacional — Planta Cu-Au | 2017–2024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86"/>
                </a:solidFill>
              </a:rPr>
              <a:t>Hallazgo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</a:rPr>
              <a:t>Moler más fino mejora la recuperación — hasta un límite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4747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325880"/>
            <a:ext cx="31089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0E7C86"/>
                </a:solidFill>
              </a:rPr>
              <a:t>Lo que descubrimos
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33333"/>
                </a:solidFill>
              </a:rPr>
              <a:t>La relación entre finura de molienda y recuperación </a:t>
            </a:r>
            <a:pPr indent="0" marL="0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C0392B"/>
                </a:solidFill>
              </a:rPr>
              <a:t>NO es lineal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33333"/>
                </a:solidFill>
              </a:rPr>
              <a:t>.
A mayor finura → mejora la recuperación, pero llega un punto de saturación donde el beneficio se estanca y el costo energético sigue subiendo.
</a:t>
            </a:r>
            <a:pPr indent="0" marL="0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0D1B2A"/>
                </a:solidFill>
              </a:rPr>
              <a:t>Umbral identificado: ~80-83% de finura
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555555"/>
                </a:solidFill>
              </a:rPr>
              <a:t>Más allá de ese punto, se gasta energía sin recuperar más cobre.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069080" y="1188720"/>
            <a:ext cx="46634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60520" y="12801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Recuperación promedio por rango de finura</a:t>
            </a:r>
            <a:endParaRPr lang="en-US" sz="9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114800" y="1627632"/>
          <a:ext cx="45262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365760" y="4663440"/>
            <a:ext cx="8366760" cy="34747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4663440"/>
            <a:ext cx="8366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F5F5"/>
                </a:solidFill>
              </a:rPr>
              <a:t>💡  La zona 78–81% de finura entrega el mejor balance entre recuperación y costo.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3B0"/>
                </a:solidFill>
              </a:rPr>
              <a:t>6 / 12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B0"/>
                </a:solidFill>
              </a:rPr>
              <a:t>Análisis Operacional — Planta Cu-Au | 2017–2024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963E"/>
                </a:solidFill>
              </a:rPr>
              <a:t>Hallazgo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</a:rPr>
              <a:t>La energía es el costo más controlable del proceso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18872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7C86"/>
                </a:solidFill>
              </a:rPr>
              <a:t>15–32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kWh/t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Rango del proceso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46120" y="118872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0392B"/>
                </a:solidFill>
              </a:rPr>
              <a:t>~114%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246120" y="19202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Variación máxima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de consumo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26480" y="105156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118872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8963E"/>
                </a:solidFill>
              </a:rPr>
              <a:t>#1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126480" y="19202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Costo más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relevante del turno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651760"/>
            <a:ext cx="40233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27249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¿Qué causa la variabilidad?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090672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00000"/>
                </a:solidFill>
              </a:rPr>
              <a:t>• 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00000"/>
                </a:solidFill>
              </a:rPr>
              <a:t>Desperfectos en el molino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555"/>
                </a:solidFill>
              </a:rPr>
              <a:t>   (consumo errático por turno)
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00000"/>
                </a:solidFill>
              </a:rPr>
              <a:t>• 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00000"/>
                </a:solidFill>
              </a:rPr>
              <a:t>Dureza variable del mineral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555"/>
                </a:solidFill>
              </a:rPr>
              <a:t>   (más duro = más energía)
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00000"/>
                </a:solidFill>
              </a:rPr>
              <a:t>• 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00000"/>
                </a:solidFill>
              </a:rPr>
              <a:t>Setpoint de finura mal ajustado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555"/>
                </a:solidFill>
              </a:rPr>
              <a:t>   (sobre-molienda innecesaria)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2651760"/>
            <a:ext cx="40690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46320" y="27249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¿Por qué importa?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3090672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</a:rPr>
              <a:t>Un turno que consume 32 kWh/t en lugar de 20 kWh/t significa:
</a:t>
            </a:r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C0392B"/>
                </a:solidFill>
              </a:rPr>
              <a:t>USD 17.000 adicionales de costo por turno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</a:rPr>
              <a:t>en una planta que procesa ~3.800 toneladas por turno.
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i="1" dirty="0">
                <a:solidFill>
                  <a:srgbClr val="0E7C86"/>
                </a:solidFill>
              </a:rPr>
              <a:t>Este es el costo que el operador puede controlar.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663440"/>
            <a:ext cx="836676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663440"/>
            <a:ext cx="8366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F5F5"/>
                </a:solidFill>
              </a:rPr>
              <a:t>💡  Reducir en 2 kWh/t el consumo promedio equivale a recuperar cientos de miles de dólares anuales.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3B0"/>
                </a:solidFill>
              </a:rPr>
              <a:t>7 / 12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B0"/>
                </a:solidFill>
              </a:rPr>
              <a:t>Análisis Operacional — Planta Cu-Au | 2017–2024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Hallazgo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</a:rPr>
              <a:t>La calidad del mineral define el techo de lo posible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011680" cy="1554480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2344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F5F5"/>
                </a:solidFill>
              </a:rPr>
              <a:t>LA MINA ENVÍA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1627632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5F5F5"/>
                </a:solidFill>
              </a:rPr>
              <a:t>Ley de Cabeza Cu (%)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5F5F5"/>
                </a:solidFill>
              </a:rPr>
              <a:t>(concentración de cobre en la roca)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377440" y="1920240"/>
            <a:ext cx="411480" cy="0"/>
          </a:xfrm>
          <a:prstGeom prst="line">
            <a:avLst/>
          </a:prstGeom>
          <a:noFill/>
          <a:ln w="25400">
            <a:solidFill>
              <a:srgbClr val="8BA3B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1143000"/>
            <a:ext cx="2011680" cy="155448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34840" y="12344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F5F5"/>
                </a:solidFill>
              </a:rPr>
              <a:t>LA PLANTA PROCESA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26280" y="1627632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5F5F5"/>
                </a:solidFill>
              </a:rPr>
              <a:t>Aplica molienda, flotación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5F5F5"/>
                </a:solidFill>
              </a:rPr>
              <a:t>y recupera el cobre disponible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46520" y="1920240"/>
            <a:ext cx="411480" cy="0"/>
          </a:xfrm>
          <a:prstGeom prst="line">
            <a:avLst/>
          </a:prstGeom>
          <a:noFill/>
          <a:ln w="25400">
            <a:solidFill>
              <a:srgbClr val="8BA3B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75120" y="1143000"/>
            <a:ext cx="2011680" cy="1554480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75120" y="12344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F5F5"/>
                </a:solidFill>
              </a:rPr>
              <a:t>RESULTADO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766560" y="1627632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5F5F5"/>
                </a:solidFill>
              </a:rPr>
              <a:t>La recuperación no puede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5F5F5"/>
                </a:solidFill>
              </a:rPr>
              <a:t>superar lo que la geología permite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880360"/>
            <a:ext cx="83667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2944368"/>
            <a:ext cx="8001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Recuperación promedio según la riqueza del mineral entrante</a:t>
            </a:r>
            <a:endParaRPr lang="en-US" sz="95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365760" y="3200400"/>
          <a:ext cx="8366760" cy="15727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Shape 16"/>
          <p:cNvSpPr/>
          <p:nvPr/>
        </p:nvSpPr>
        <p:spPr>
          <a:xfrm>
            <a:off x="365760" y="4663440"/>
            <a:ext cx="8366760" cy="347472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5760" y="4663440"/>
            <a:ext cx="8366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5F5"/>
                </a:solidFill>
              </a:rPr>
              <a:t>💡  El proceso está bien controlado: la recuperación se mantiene estable independientemente de la ley. El margen de mejora está en la operación, no en la geología.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3B0"/>
                </a:solidFill>
              </a:rPr>
              <a:t>8 / 12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B0"/>
                </a:solidFill>
              </a:rPr>
              <a:t>Análisis Operacional — Planta Cu-Au | 2017–2024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963E"/>
                </a:solidFill>
              </a:rPr>
              <a:t>Hallazgo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5F5"/>
                </a:solidFill>
              </a:rPr>
              <a:t>El mismo turno puede valer el doble según el mercado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920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261872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392B"/>
                </a:solidFill>
              </a:rPr>
              <a:t>$4.673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90195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USD/t mínimo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(COVID 2020)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42032" y="1188720"/>
            <a:ext cx="1920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42032" y="1261872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7A4A"/>
                </a:solidFill>
              </a:rPr>
              <a:t>$11.285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542032" y="190195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USD/t máximo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(Rally 2022)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18304" y="1188720"/>
            <a:ext cx="1920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18304" y="1261872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963E"/>
                </a:solidFill>
              </a:rPr>
              <a:t>141%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718304" y="190195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Variación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2017–2024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94576" y="1188720"/>
            <a:ext cx="1920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94576" y="1261872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7C86"/>
                </a:solidFill>
              </a:rPr>
              <a:t>$7.600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894576" y="190195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USD/t promedio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del período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697480"/>
            <a:ext cx="8366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graphicFrame>
        <p:nvGraphicFramePr>
          <p:cNvPr id="18" name="Chart 0" descr=""/>
          <p:cNvGraphicFramePr/>
          <p:nvPr/>
        </p:nvGraphicFramePr>
        <p:xfrm>
          <a:off x="365760" y="2724912"/>
          <a:ext cx="836676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Shape 16"/>
          <p:cNvSpPr/>
          <p:nvPr/>
        </p:nvSpPr>
        <p:spPr>
          <a:xfrm>
            <a:off x="365760" y="4645152"/>
            <a:ext cx="8366760" cy="365760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5760" y="4645152"/>
            <a:ext cx="8366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💡  Incorporamos el precio real del mercado (API Yahoo Finance) para calcular el beneficio económico real de cada turno.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3B0"/>
                </a:solidFill>
              </a:rPr>
              <a:t>9 / 12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B0"/>
                </a:solidFill>
              </a:rPr>
              <a:t>Análisis Operacional — Planta Cu-Au | 2017–2024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</a:rPr>
              <a:t>La Ventana Óptima de Operación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2296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7C86"/>
                </a:solidFill>
              </a:rPr>
              <a:t>Existe una combinación de variables que maximiza la ganancia por turno.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6517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80160"/>
            <a:ext cx="265176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801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5F5"/>
                </a:solidFill>
              </a:rPr>
              <a:t>🔴  ZONA INEFICIENTE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810512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Alta energía + baja recuperación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→ Pérdida económica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64408" y="1280160"/>
            <a:ext cx="26517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64408" y="1280160"/>
            <a:ext cx="2651760" cy="411480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4408" y="12801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5F5"/>
                </a:solidFill>
              </a:rPr>
              <a:t>🟡  ZONA DE AJUSTE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47288" y="1810512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Recuperación aceptable pero energía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todavía optimizable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63056" y="1280160"/>
            <a:ext cx="26517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63056" y="1280160"/>
            <a:ext cx="2651760" cy="41148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63056" y="12801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5F5"/>
                </a:solidFill>
              </a:rPr>
              <a:t>🟢  ZONA ÓPTIMA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45936" y="1810512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Finura ~78–83% + Consumo &lt; 25 kWh/t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→ Máximo beneficio por turno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547872"/>
            <a:ext cx="8366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3611880"/>
            <a:ext cx="8001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TOP 10% DE TURNOS POR BENEFICIO ECONÓMICO — ¿Qué tienen en común?</a:t>
            </a:r>
            <a:endParaRPr lang="en-US" sz="9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913632"/>
          <a:ext cx="8366760" cy="960120"/>
        </p:xfrm>
        <a:graphic>
          <a:graphicData uri="http://schemas.openxmlformats.org/drawingml/2006/table">
            <a:tbl>
              <a:tblPr/>
              <a:tblGrid>
                <a:gridCol w="2926080"/>
                <a:gridCol w="2743200"/>
                <a:gridCol w="2697480"/>
              </a:tblGrid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Parámetro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Zona Óptima (Top 10%)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Zona Ineficiente (Bottom 10%)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Finura de molienda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80.8%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79.9%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Consumo energético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21.5 kWh/t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25.8 kWh/t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Recuperación Cu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82.8%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80.2%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Beneficio por turno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USD 185.000+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USD 68.000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3B0"/>
                </a:solidFill>
              </a:rPr>
              <a:t>10 / 12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B0"/>
                </a:solidFill>
              </a:rPr>
              <a:t>Análisis Operacional — Planta Cu-Au | 2017–2024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5"/>
                </a:solidFill>
              </a:rPr>
              <a:t>Conclusiones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502920" cy="169164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5029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5F5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06984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El proceso es multivariable — no hay una perilla mágica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60120" y="146304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44444"/>
                </a:solidFill>
              </a:rPr>
              <a:t>La finura de molienda sola no explica la recuperación. Es la combinación de finura, flujo de alimentación y condiciones de flotación lo que define el resultado.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17720" y="96012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960120"/>
            <a:ext cx="502920" cy="1691640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960120"/>
            <a:ext cx="5029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5F5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212080" y="106984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Existe un umbral de rentabilidad en la molienda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212080" y="146304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44444"/>
                </a:solidFill>
              </a:rPr>
              <a:t>Entre 78–83% de finura se obtiene el mejor balance recuperación-energía. Moler más allá de ese punto genera gasto sin retorno.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83464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834640"/>
            <a:ext cx="502920" cy="169164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834640"/>
            <a:ext cx="5029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5F5"/>
                </a:solidFill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294436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La energía es el costo controlable más importante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60120" y="333756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44444"/>
                </a:solidFill>
              </a:rPr>
              <a:t>Con variaciones de hasta 114% en el consumo entre turnos, reducir el desperdicio energético es la oportunidad económica más inmediata del proceso.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17720" y="283464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17720" y="2834640"/>
            <a:ext cx="502920" cy="1691640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2834640"/>
            <a:ext cx="5029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5F5"/>
                </a:solidFill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212080" y="294436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El precio del mercado redefine la rentabilidad de cada turno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212080" y="333756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44444"/>
                </a:solidFill>
              </a:rPr>
              <a:t>Un turno operativamente idéntico en 2020 generó menos de la mitad del valor que en 2022. La gestión operativa debe tener en cuenta el contexto de mercado.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3B0"/>
                </a:solidFill>
              </a:rPr>
              <a:t>11 / 12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B0"/>
                </a:solidFill>
              </a:rPr>
              <a:t>Análisis Operacional — Planta Cu-Au | 2017–2024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5"/>
                </a:solidFill>
              </a:rPr>
              <a:t>¿Qué sigue?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841248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963E"/>
                </a:solidFill>
              </a:rPr>
              <a:t>Un modelo predictivo que asiste al operador antes de que termine el turno.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65176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25880" y="1444752"/>
            <a:ext cx="731520" cy="7315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14447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5F5"/>
                </a:solidFill>
              </a:rPr>
              <a:t>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230428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Modelo Predictivo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743200"/>
            <a:ext cx="23774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44444"/>
                </a:solidFill>
              </a:rPr>
              <a:t>Entrenar un algoritmo que estime simultáneamente recuperación y consumo energético del próximo turno, usando solo variables que el operador controla.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73552" y="1371600"/>
            <a:ext cx="265176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33672" y="1444752"/>
            <a:ext cx="731520" cy="731520"/>
          </a:xfrm>
          <a:prstGeom prst="ellipse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33672" y="14447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5F5"/>
                </a:solidFill>
              </a:rPr>
              <a:t>II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10712" y="230428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Simulador de Escenarios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10712" y="2743200"/>
            <a:ext cx="23774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44444"/>
                </a:solidFill>
              </a:rPr>
              <a:t>¿Qué pasa si subo la finura 2 puntos? ¿Si reduzco el flujo? El modelo responde en tiempo real para que el operador tome decisiones informadas.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81344" y="1371600"/>
            <a:ext cx="265176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141464" y="1444752"/>
            <a:ext cx="731520" cy="731520"/>
          </a:xfrm>
          <a:prstGeom prst="ellipse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41464" y="14447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5F5"/>
                </a:solidFill>
              </a:rPr>
              <a:t>III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18504" y="230428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Alerta de Proceso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18504" y="2743200"/>
            <a:ext cx="23774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44444"/>
                </a:solidFill>
              </a:rPr>
              <a:t>Un semáforo automático por turno: verde si el proceso está en zona rentable, rojo si se detecta una condición de pérdida antes de que ocurra.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4498848"/>
            <a:ext cx="8366760" cy="502920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498848"/>
            <a:ext cx="8366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El objetivo final: que el operador sepa, antes de que termine el turno, si está en zona rentable — y qué ajustar si no lo está.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3B0"/>
                </a:solidFill>
              </a:rPr>
              <a:t>12 / 12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B0"/>
                </a:solidFill>
              </a:rPr>
              <a:t>Análisis Operacional — Planta Cu-Au | 2017–2024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Optimización Proceso Cu-Au — Planta de Beneficio</dc:title>
  <dc:subject>PptxGenJS Presentation</dc:subject>
  <dc:creator>Carabajal</dc:creator>
  <cp:lastModifiedBy>Carabajal</cp:lastModifiedBy>
  <cp:revision>1</cp:revision>
  <dcterms:created xsi:type="dcterms:W3CDTF">2026-03-27T03:35:58Z</dcterms:created>
  <dcterms:modified xsi:type="dcterms:W3CDTF">2026-03-27T03:35:58Z</dcterms:modified>
</cp:coreProperties>
</file>